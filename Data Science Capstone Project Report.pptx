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80" r:id="rId13"/>
    <p:sldId id="281" r:id="rId14"/>
    <p:sldId id="282" r:id="rId15"/>
    <p:sldId id="283" r:id="rId16"/>
    <p:sldId id="284" r:id="rId17"/>
    <p:sldId id="264" r:id="rId18"/>
    <p:sldId id="276" r:id="rId19"/>
    <p:sldId id="277" r:id="rId20"/>
    <p:sldId id="278" r:id="rId21"/>
    <p:sldId id="279" r:id="rId22"/>
    <p:sldId id="265" r:id="rId23"/>
    <p:sldId id="285" r:id="rId24"/>
    <p:sldId id="286" r:id="rId25"/>
    <p:sldId id="287" r:id="rId26"/>
    <p:sldId id="266" r:id="rId27"/>
    <p:sldId id="288" r:id="rId28"/>
    <p:sldId id="289" r:id="rId29"/>
    <p:sldId id="290" r:id="rId30"/>
    <p:sldId id="291" r:id="rId31"/>
    <p:sldId id="292" r:id="rId32"/>
    <p:sldId id="267" r:id="rId33"/>
    <p:sldId id="268" r:id="rId34"/>
    <p:sldId id="271" r:id="rId35"/>
  </p:sldIdLst>
  <p:sldSz cx="12192000" cy="6858000"/>
  <p:notesSz cx="6858000" cy="1857375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BFF1E-DE5C-4C56-B3E4-CA6F53899581}" v="1697" dt="2026-05-21T02:40:56.794"/>
    <p1510:client id="{1FA6E564-C226-43A0-BA23-6A793B6B15E1}" v="757" dt="2026-05-21T04:27:02.813"/>
    <p1510:client id="{55E01906-1FE0-4C9E-B2D9-7EC24065ED02}" v="36" dt="2026-05-22T00:44:38.86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744"/>
        <p:guide pos="28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>
                <a:solidFill>
                  <a:srgbClr val="FFFFFF"/>
                </a:solidFill>
                <a:effectLst/>
              </a:rPr>
              <a:t>Purple 40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Magenta</a:t>
            </a:r>
            <a:r>
              <a:rPr lang="en-US" b="1" i="0">
                <a:solidFill>
                  <a:srgbClr val="FFFFFF"/>
                </a:solidFill>
                <a:effectLst/>
              </a:rPr>
              <a:t> 40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Teal</a:t>
            </a:r>
            <a:r>
              <a:rPr lang="en-US" b="1" i="0">
                <a:solidFill>
                  <a:srgbClr val="FFFFFF"/>
                </a:solidFill>
                <a:effectLst/>
              </a:rPr>
              <a:t> 40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Cyan</a:t>
            </a:r>
            <a:r>
              <a:rPr lang="en-US" b="1" i="0">
                <a:solidFill>
                  <a:srgbClr val="FFFFFF"/>
                </a:solidFill>
                <a:effectLst/>
              </a:rPr>
              <a:t> 40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>
                <a:solidFill>
                  <a:srgbClr val="FFFFFF"/>
                </a:solidFill>
                <a:effectLst/>
              </a:rPr>
              <a:t>Purple 60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Magenta</a:t>
            </a:r>
            <a:r>
              <a:rPr lang="en-US" b="1" i="0">
                <a:solidFill>
                  <a:srgbClr val="FFFFFF"/>
                </a:solidFill>
                <a:effectLst/>
              </a:rPr>
              <a:t> 60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Teal</a:t>
            </a:r>
            <a:r>
              <a:rPr lang="en-US" b="1" i="0">
                <a:solidFill>
                  <a:srgbClr val="FFFFFF"/>
                </a:solidFill>
                <a:effectLst/>
              </a:rPr>
              <a:t> 60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Cyan</a:t>
            </a:r>
            <a:r>
              <a:rPr lang="en-US" b="1" i="0">
                <a:solidFill>
                  <a:srgbClr val="FFFFFF"/>
                </a:solidFill>
                <a:effectLst/>
              </a:rPr>
              <a:t> 60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>
                <a:solidFill>
                  <a:srgbClr val="FFFFFF"/>
                </a:solidFill>
                <a:effectLst/>
              </a:rPr>
              <a:t>Purple 10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Magenta</a:t>
            </a:r>
            <a:r>
              <a:rPr lang="en-US" b="1" i="0">
                <a:solidFill>
                  <a:srgbClr val="FFFFFF"/>
                </a:solidFill>
                <a:effectLst/>
              </a:rPr>
              <a:t> 10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Teal</a:t>
            </a:r>
            <a:r>
              <a:rPr lang="en-US" b="1" i="0">
                <a:solidFill>
                  <a:srgbClr val="FFFFFF"/>
                </a:solidFill>
                <a:effectLst/>
              </a:rPr>
              <a:t> 10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Cyan</a:t>
            </a:r>
            <a:r>
              <a:rPr lang="en-US" b="1" i="0">
                <a:solidFill>
                  <a:srgbClr val="FFFFFF"/>
                </a:solidFill>
                <a:effectLst/>
              </a:rPr>
              <a:t> 10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jbci/data_science_capstone/tree/main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7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8.png"/><Relationship Id="rId15" Type="http://schemas.openxmlformats.org/officeDocument/2006/relationships/image" Target="../media/image6.jpe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9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3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jbci/data_science_capstone/tree/main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90" y="1168401"/>
            <a:ext cx="6652450" cy="2387600"/>
          </a:xfrm>
          <a:noFill/>
        </p:spPr>
        <p:txBody>
          <a:bodyPr/>
          <a:lstStyle/>
          <a:p>
            <a:r>
              <a:rPr lang="en-US" sz="2800" b="1">
                <a:highlight>
                  <a:srgbClr val="FFFFFF"/>
                </a:highlight>
                <a:latin typeface="IBM Plex Sans SemiBold"/>
              </a:rPr>
              <a:t>SpaceX Falcon 9 first stage Landing Prediction</a:t>
            </a:r>
            <a:endParaRPr lang="en-US" sz="2800">
              <a:latin typeface="IBM Plex Sans SemiBold"/>
            </a:endParaRPr>
          </a:p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0027" y="3731247"/>
            <a:ext cx="7022174" cy="165576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IBM Plex Sans"/>
              </a:rPr>
              <a:t>Data Science Capstone</a:t>
            </a:r>
          </a:p>
          <a:p>
            <a:r>
              <a:rPr lang="en-US" sz="1600">
                <a:latin typeface="IBM Plex Sans"/>
              </a:rPr>
              <a:t>Brian Bulowicz</a:t>
            </a:r>
          </a:p>
          <a:p>
            <a:r>
              <a:rPr lang="en-US" sz="1600">
                <a:latin typeface="IBM Plex Sans"/>
              </a:rPr>
              <a:t>May 2026</a:t>
            </a:r>
            <a:endParaRPr lang="en-US" sz="1600"/>
          </a:p>
          <a:p>
            <a:r>
              <a:rPr lang="en-US" sz="2000" dirty="0">
                <a:latin typeface="IBM Plex Sans"/>
                <a:hlinkClick r:id="rId3"/>
              </a:rPr>
              <a:t>https://github.com/bjbci/data_science_capstone/tree/</a:t>
            </a:r>
            <a:r>
              <a:rPr lang="en-US" sz="2000" dirty="0">
                <a:latin typeface="IBM Plex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  <a:endParaRPr lang="en-US" sz="2000" dirty="0">
              <a:latin typeface="IBM Plex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  <p:pic>
        <p:nvPicPr>
          <p:cNvPr id="5" name="Picture 4" descr="US Space Force launches eighth X-37B mission &gt; United States Space Force &gt;  Article Display">
            <a:extLst>
              <a:ext uri="{FF2B5EF4-FFF2-40B4-BE49-F238E27FC236}">
                <a16:creationId xmlns:a16="http://schemas.microsoft.com/office/drawing/2014/main" id="{1628019D-CD75-D049-BA83-D9BF1AE60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889" y="390293"/>
            <a:ext cx="4785734" cy="49901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594132"/>
            <a:ext cx="5181600" cy="458283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+mn-lt"/>
                <a:ea typeface="+mn-lt"/>
                <a:cs typeface="+mn-lt"/>
              </a:rPr>
              <a:t>Executive Summary</a:t>
            </a:r>
          </a:p>
          <a:p>
            <a:r>
              <a:rPr lang="en-US" sz="1600">
                <a:latin typeface="+mn-lt"/>
                <a:ea typeface="+mn-lt"/>
                <a:cs typeface="+mn-lt"/>
              </a:rPr>
              <a:t>Introduction</a:t>
            </a:r>
          </a:p>
          <a:p>
            <a:r>
              <a:rPr lang="en-US" sz="1600" dirty="0">
                <a:solidFill>
                  <a:srgbClr val="525252"/>
                </a:solidFill>
                <a:latin typeface="+mn-lt"/>
                <a:ea typeface="+mn-lt"/>
                <a:cs typeface="+mn-lt"/>
              </a:rPr>
              <a:t>Data collection and data wrangling methodology</a:t>
            </a:r>
            <a:endParaRPr lang="en-US" sz="1600">
              <a:latin typeface="+mn-lt"/>
              <a:ea typeface="+mn-lt"/>
              <a:cs typeface="+mn-lt"/>
            </a:endParaRPr>
          </a:p>
          <a:p>
            <a:r>
              <a:rPr lang="en-US" sz="1600" dirty="0">
                <a:solidFill>
                  <a:srgbClr val="525252"/>
                </a:solidFill>
                <a:latin typeface="+mn-lt"/>
                <a:ea typeface="+mn-lt"/>
                <a:cs typeface="+mn-lt"/>
              </a:rPr>
              <a:t>EDA and interactive visual analytics methodology</a:t>
            </a:r>
            <a:endParaRPr lang="en-US" sz="1600">
              <a:latin typeface="+mn-lt"/>
              <a:ea typeface="+mn-lt"/>
              <a:cs typeface="+mn-lt"/>
            </a:endParaRPr>
          </a:p>
          <a:p>
            <a:r>
              <a:rPr lang="en-US" sz="1600" dirty="0">
                <a:solidFill>
                  <a:srgbClr val="525252"/>
                </a:solidFill>
                <a:latin typeface="+mn-lt"/>
                <a:ea typeface="+mn-lt"/>
                <a:cs typeface="+mn-lt"/>
              </a:rPr>
              <a:t>Predictive analysis methodology</a:t>
            </a:r>
            <a:endParaRPr lang="en-US" sz="1600">
              <a:latin typeface="+mn-lt"/>
              <a:ea typeface="+mn-lt"/>
              <a:cs typeface="+mn-lt"/>
            </a:endParaRPr>
          </a:p>
          <a:p>
            <a:r>
              <a:rPr lang="en-US" sz="1600">
                <a:solidFill>
                  <a:srgbClr val="525252"/>
                </a:solidFill>
                <a:latin typeface="+mn-lt"/>
                <a:ea typeface="+mn-lt"/>
                <a:cs typeface="+mn-lt"/>
              </a:rPr>
              <a:t>EDA with visualization results</a:t>
            </a:r>
          </a:p>
          <a:p>
            <a:r>
              <a:rPr lang="en-US" sz="1600">
                <a:solidFill>
                  <a:srgbClr val="525252"/>
                </a:solidFill>
                <a:latin typeface="+mn-lt"/>
                <a:ea typeface="+mn-lt"/>
                <a:cs typeface="+mn-lt"/>
              </a:rPr>
              <a:t>EDA with SQL results</a:t>
            </a:r>
          </a:p>
          <a:p>
            <a:r>
              <a:rPr lang="en-US" sz="1600">
                <a:solidFill>
                  <a:srgbClr val="525252"/>
                </a:solidFill>
                <a:latin typeface="+mn-lt"/>
                <a:ea typeface="+mn-lt"/>
                <a:cs typeface="+mn-lt"/>
              </a:rPr>
              <a:t>Interactive map results using Folium</a:t>
            </a:r>
          </a:p>
          <a:p>
            <a:r>
              <a:rPr lang="en-US" sz="1600">
                <a:solidFill>
                  <a:srgbClr val="525252"/>
                </a:solidFill>
                <a:latin typeface="+mn-lt"/>
                <a:ea typeface="+mn-lt"/>
                <a:cs typeface="+mn-lt"/>
              </a:rPr>
              <a:t>Plotly Dash dashboard results</a:t>
            </a:r>
          </a:p>
          <a:p>
            <a:r>
              <a:rPr lang="en-US" sz="1600">
                <a:solidFill>
                  <a:srgbClr val="525252"/>
                </a:solidFill>
                <a:latin typeface="+mn-lt"/>
                <a:ea typeface="+mn-lt"/>
                <a:cs typeface="+mn-lt"/>
              </a:rPr>
              <a:t>Predictive analysis (classification) results </a:t>
            </a:r>
          </a:p>
          <a:p>
            <a:r>
              <a:rPr lang="en-US" sz="1600">
                <a:latin typeface="+mn-lt"/>
                <a:ea typeface="+mn-lt"/>
                <a:cs typeface="+mn-lt"/>
              </a:rPr>
              <a:t>Conclusion</a:t>
            </a:r>
          </a:p>
          <a:p>
            <a:r>
              <a:rPr lang="en-US" sz="1600">
                <a:latin typeface="+mn-lt"/>
                <a:ea typeface="+mn-lt"/>
                <a:cs typeface="+mn-lt"/>
              </a:rPr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 descr="US Space Force launches eighth X-37B mission &gt; United States Space Force &gt;  Article Display">
            <a:extLst>
              <a:ext uri="{FF2B5EF4-FFF2-40B4-BE49-F238E27FC236}">
                <a16:creationId xmlns:a16="http://schemas.microsoft.com/office/drawing/2014/main" id="{C4258D94-3CC5-105A-1B66-0EE5F4EDF5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500" y="1598342"/>
            <a:ext cx="4321098" cy="42560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latin typeface="IBM Plex Sans"/>
              </a:rPr>
              <a:t>Data Analysis performed on available data to predict whether a SpaceX Falcon 9 first stage booster will successfully land.</a:t>
            </a:r>
            <a:endParaRPr lang="en-US" sz="2200"/>
          </a:p>
          <a:p>
            <a:r>
              <a:rPr lang="en-US" sz="2200">
                <a:latin typeface="IBM Plex Sans"/>
              </a:rPr>
              <a:t>The cost of a SpaceX launch is much lower than competitors, 62 million USD versus over 165 million USD for competitors.</a:t>
            </a:r>
            <a:endParaRPr lang="en-US" sz="2200"/>
          </a:p>
          <a:p>
            <a:pPr lvl="1"/>
            <a:r>
              <a:rPr lang="en-US" sz="1800">
                <a:latin typeface="IBM Plex Sans"/>
              </a:rPr>
              <a:t>The main reason for this cost difference is SpaceX ability to reuse first stage boosters of the Falcon 9 rocket.</a:t>
            </a:r>
          </a:p>
          <a:p>
            <a:pPr lvl="1"/>
            <a:r>
              <a:rPr lang="en-US" sz="1800">
                <a:latin typeface="IBM Plex Sans"/>
              </a:rPr>
              <a:t>If a SpaceX Falcon 9 rocket booster fails to successfully land, the launch cost increases significantly.</a:t>
            </a:r>
          </a:p>
          <a:p>
            <a:r>
              <a:rPr lang="en-US" sz="2200">
                <a:latin typeface="IBM Plex Sans"/>
              </a:rPr>
              <a:t>Several factors were examined using multiple models to determine elements that affect the potential success of a Falcon 9 booster landing.</a:t>
            </a:r>
            <a:endParaRPr lang="en-US" sz="2200"/>
          </a:p>
          <a:p>
            <a:endParaRPr lang="en-US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  <p:pic>
        <p:nvPicPr>
          <p:cNvPr id="4" name="Picture 3" descr="Rocket - Wikipedia">
            <a:extLst>
              <a:ext uri="{FF2B5EF4-FFF2-40B4-BE49-F238E27FC236}">
                <a16:creationId xmlns:a16="http://schemas.microsoft.com/office/drawing/2014/main" id="{74D2AFEC-DE5B-D002-EB4D-A0620F32E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658" y="1826478"/>
            <a:ext cx="2783855" cy="36882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>
                <a:solidFill>
                  <a:schemeClr val="tx1"/>
                </a:solidFill>
                <a:latin typeface="IBM Plex Mono Text"/>
              </a:rPr>
              <a:t>SpaceX is a company founded in 2002 with the aim to make space travel cheaper and more accessible, initially focused on travel to Mars.</a:t>
            </a:r>
          </a:p>
          <a:p>
            <a:pPr marL="0" indent="0">
              <a:buNone/>
            </a:pPr>
            <a:r>
              <a:rPr lang="en-US" sz="2200">
                <a:solidFill>
                  <a:schemeClr val="tx1"/>
                </a:solidFill>
                <a:latin typeface="IBM Plex Mono Text"/>
              </a:rPr>
              <a:t>SpaceX has since developed a commercial business around using its own rockets to deliver payloads to space.</a:t>
            </a:r>
          </a:p>
          <a:p>
            <a:pPr marL="0" indent="0">
              <a:buNone/>
            </a:pPr>
            <a:r>
              <a:rPr lang="en-US" sz="2200">
                <a:solidFill>
                  <a:schemeClr val="tx1"/>
                </a:solidFill>
                <a:latin typeface="IBM Plex Mono Text"/>
              </a:rPr>
              <a:t>SpaceX has attempted to reduce the cost of launching rockets by making more components reusable, with a large savings coming from being able to reuse the first stage booster on the Falcon 9 rocket.</a:t>
            </a:r>
          </a:p>
          <a:p>
            <a:pPr marL="0" indent="0">
              <a:buNone/>
            </a:pPr>
            <a:r>
              <a:rPr lang="en-US" sz="2200">
                <a:solidFill>
                  <a:schemeClr val="tx1"/>
                </a:solidFill>
                <a:latin typeface="IBM Plex Mono Text"/>
              </a:rPr>
              <a:t>SpaceX successfully reusing first stage boosters is factor in being able to deliver payloads to space at a </a:t>
            </a:r>
            <a:r>
              <a:rPr lang="en-US" sz="2200" err="1">
                <a:solidFill>
                  <a:schemeClr val="tx1"/>
                </a:solidFill>
                <a:latin typeface="IBM Plex Mono Text"/>
              </a:rPr>
              <a:t>significcantly</a:t>
            </a:r>
            <a:r>
              <a:rPr lang="en-US" sz="2200">
                <a:solidFill>
                  <a:schemeClr val="tx1"/>
                </a:solidFill>
                <a:latin typeface="IBM Plex Mono Text"/>
              </a:rPr>
              <a:t> lower cost than other space agencies.</a:t>
            </a:r>
            <a:endParaRPr lang="en-US" sz="2200">
              <a:solidFill>
                <a:schemeClr val="tx1"/>
              </a:solidFill>
            </a:endParaRPr>
          </a:p>
        </p:txBody>
      </p:sp>
      <p:pic>
        <p:nvPicPr>
          <p:cNvPr id="5" name="Picture 4" descr="Wicked Double Booster Landing ...">
            <a:extLst>
              <a:ext uri="{FF2B5EF4-FFF2-40B4-BE49-F238E27FC236}">
                <a16:creationId xmlns:a16="http://schemas.microsoft.com/office/drawing/2014/main" id="{3D847B8C-24D9-B5E3-E13B-240CAE8C1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341" y="1911390"/>
            <a:ext cx="2877246" cy="32210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sz="2000" b="0">
                <a:latin typeface="IBM Plex Sans SemiBold"/>
              </a:rPr>
              <a:t>Data collection and data wrangling methodology</a:t>
            </a:r>
            <a:br>
              <a:rPr lang="en-US" sz="2000" b="0">
                <a:latin typeface="IBM Plex Sans SemiBold"/>
              </a:rPr>
            </a:br>
            <a:endParaRPr lang="en-US" sz="2000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605173" y="1695528"/>
            <a:ext cx="10748627" cy="968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highlight>
                  <a:srgbClr val="FFFFFF"/>
                </a:highlight>
                <a:latin typeface="IBM Plex Sans"/>
              </a:rPr>
              <a:t>Data collected using SpaceX API</a:t>
            </a:r>
          </a:p>
          <a:p>
            <a:r>
              <a:rPr lang="en-US" sz="1400">
                <a:highlight>
                  <a:srgbClr val="FFFFFF"/>
                </a:highlight>
                <a:latin typeface="IBM Plex Sans"/>
              </a:rPr>
              <a:t>Scrape data from webpages using </a:t>
            </a:r>
            <a:r>
              <a:rPr lang="en-US" sz="1400" err="1">
                <a:highlight>
                  <a:srgbClr val="FFFFFF"/>
                </a:highlight>
                <a:latin typeface="IBM Plex Sans"/>
              </a:rPr>
              <a:t>BeautifulSoup</a:t>
            </a:r>
            <a:endParaRPr lang="en-US" sz="1400">
              <a:highlight>
                <a:srgbClr val="FFFFFF"/>
              </a:highlight>
              <a:latin typeface="IBM Plex Sans"/>
            </a:endParaRPr>
          </a:p>
          <a:p>
            <a:r>
              <a:rPr lang="en-US" sz="1400">
                <a:highlight>
                  <a:srgbClr val="FFFFFF"/>
                </a:highlight>
                <a:latin typeface="IBM Plex Sans"/>
              </a:rPr>
              <a:t>Collect and make sure the data is in the correct format from and SpaceX API using pandas, </a:t>
            </a:r>
            <a:r>
              <a:rPr lang="en-US" sz="1400" err="1">
                <a:highlight>
                  <a:srgbClr val="FFFFFF"/>
                </a:highlight>
                <a:latin typeface="IBM Plex Sans"/>
              </a:rPr>
              <a:t>numpy</a:t>
            </a:r>
            <a:r>
              <a:rPr lang="en-US" sz="1400">
                <a:highlight>
                  <a:srgbClr val="FFFFFF"/>
                </a:highlight>
                <a:latin typeface="IBM Plex Sans"/>
              </a:rPr>
              <a:t> and python.</a:t>
            </a:r>
            <a:endParaRPr lang="en-US" sz="1400">
              <a:latin typeface="IBM Plex Sans"/>
            </a:endParaRPr>
          </a:p>
          <a:p>
            <a:pPr marL="0" indent="0">
              <a:buNone/>
            </a:pPr>
            <a:endParaRPr lang="en-US" sz="1400">
              <a:highlight>
                <a:srgbClr val="FFFFFF"/>
              </a:highlight>
              <a:latin typeface="IBM Plex Sans"/>
            </a:endParaRPr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B1338FB-A73F-A50B-CC85-2F5B116E3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8465"/>
            <a:ext cx="12192000" cy="1788535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888E68D-3B6D-49D6-89C7-655D86988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34830"/>
            <a:ext cx="12192000" cy="23789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2400" b="0" dirty="0">
                <a:latin typeface="IBM Plex Sans SemiBold"/>
              </a:rPr>
              <a:t>EDA and interactive visual analytics methodology </a:t>
            </a:r>
            <a:endParaRPr lang="en-US" sz="2400" dirty="0">
              <a:latin typeface="IBM Plex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D9168-FD73-439C-2820-A72A49AC8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IBM Plex Sans"/>
              </a:rPr>
              <a:t>Utilize matplotlib and pandas to display scatterplots and bar charts demonstrating success rate relationship to payload mass, orbit, launch site and flight number.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z="2400" b="0" dirty="0">
                <a:latin typeface="IBM Plex Sans SemiBold"/>
              </a:rPr>
              <a:t>Predictive analysis methodology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2752" y="1825625"/>
            <a:ext cx="10514186" cy="1678698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IBM Plex Sans"/>
              </a:rPr>
              <a:t>Predictive analysis is performed by </a:t>
            </a:r>
            <a:endParaRPr lang="en-US" dirty="0"/>
          </a:p>
          <a:p>
            <a:pPr marL="0" indent="0">
              <a:buNone/>
            </a:pPr>
            <a:r>
              <a:rPr lang="en-US">
                <a:latin typeface="IBM Plex Sans"/>
              </a:rPr>
              <a:t>1.Accumulating</a:t>
            </a:r>
            <a:r>
              <a:rPr lang="en-US" dirty="0">
                <a:latin typeface="IBM Plex Sans"/>
              </a:rPr>
              <a:t> and processing the data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IBM Plex Sans"/>
              </a:rPr>
              <a:t>2. Standardizing the </a:t>
            </a:r>
            <a:r>
              <a:rPr lang="en-US">
                <a:latin typeface="IBM Plex Sans"/>
              </a:rPr>
              <a:t>data</a:t>
            </a:r>
            <a:endParaRPr lang="en-US"/>
          </a:p>
          <a:p>
            <a:pPr marL="0" indent="0">
              <a:buNone/>
            </a:pPr>
            <a:r>
              <a:rPr lang="en-US">
                <a:latin typeface="IBM Plex Sans"/>
              </a:rPr>
              <a:t>3. Split the data into testing and training sets</a:t>
            </a:r>
            <a:endParaRPr lang="en-US"/>
          </a:p>
          <a:p>
            <a:pPr marL="0" indent="0">
              <a:buNone/>
            </a:pPr>
            <a:r>
              <a:rPr lang="en-US" dirty="0">
                <a:latin typeface="IBM Plex Sans"/>
              </a:rPr>
              <a:t>4. 4reate 4 </a:t>
            </a:r>
            <a:r>
              <a:rPr lang="en-US" dirty="0" err="1">
                <a:latin typeface="IBM Plex Sans"/>
              </a:rPr>
              <a:t>GridSearchCV</a:t>
            </a:r>
            <a:r>
              <a:rPr lang="en-US" dirty="0">
                <a:latin typeface="IBM Plex Sans"/>
              </a:rPr>
              <a:t> objects to model the data</a:t>
            </a:r>
            <a:endParaRPr lang="en-US" dirty="0"/>
          </a:p>
          <a:p>
            <a:pPr marL="0" indent="0">
              <a:buNone/>
            </a:pPr>
            <a:r>
              <a:rPr lang="en-US">
                <a:latin typeface="IBM Plex Sans"/>
              </a:rPr>
              <a:t>5. Testing the </a:t>
            </a:r>
            <a:r>
              <a:rPr lang="en-US" dirty="0" err="1">
                <a:latin typeface="IBM Plex Sans"/>
              </a:rPr>
              <a:t>accurac</a:t>
            </a:r>
            <a:r>
              <a:rPr lang="en-US" dirty="0">
                <a:latin typeface="IBM Plex Sans"/>
              </a:rPr>
              <a:t>y of each model</a:t>
            </a:r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010" y="3774030"/>
            <a:ext cx="1758142" cy="501939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15" y="365125"/>
            <a:ext cx="10534185" cy="563563"/>
          </a:xfrm>
        </p:spPr>
        <p:txBody>
          <a:bodyPr>
            <a:normAutofit/>
          </a:bodyPr>
          <a:lstStyle/>
          <a:p>
            <a:r>
              <a:rPr lang="en-US" sz="2800" b="0">
                <a:latin typeface="IBM Plex Sans SemiBold"/>
              </a:rPr>
              <a:t>EDA with visualization results  (1 of 6)</a:t>
            </a:r>
            <a:endParaRPr lang="en-US">
              <a:latin typeface="IBM Plex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3108" y="1546844"/>
            <a:ext cx="10794381" cy="336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>
                <a:highlight>
                  <a:srgbClr val="FFFFFF"/>
                </a:highlight>
                <a:latin typeface="IBM Plex Sans"/>
              </a:rPr>
              <a:t>Exploratory Data Analysis and Feature Engineering</a:t>
            </a:r>
            <a:endParaRPr lang="en-US" sz="1400">
              <a:latin typeface="IBM Plex Sans"/>
            </a:endParaRP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5219517-1C97-A357-731E-792077B30D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13370" y="2175135"/>
            <a:ext cx="11379820" cy="35593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627BD2-CCF1-8DB8-5CBF-3E14F3740734}"/>
              </a:ext>
            </a:extLst>
          </p:cNvPr>
          <p:cNvSpPr txBox="1"/>
          <p:nvPr/>
        </p:nvSpPr>
        <p:spPr>
          <a:xfrm>
            <a:off x="353122" y="223024"/>
            <a:ext cx="9506413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0" i="0" u="none" strike="noStrike" baseline="0">
                <a:solidFill>
                  <a:srgbClr val="525252"/>
                </a:solidFill>
                <a:latin typeface="IBM Plex Sans SemiBold"/>
              </a:rPr>
              <a:t>EDA with visualization results slides (</a:t>
            </a:r>
            <a:r>
              <a:rPr lang="en-US" sz="2800">
                <a:solidFill>
                  <a:srgbClr val="525252"/>
                </a:solidFill>
                <a:latin typeface="IBM Plex Sans SemiBold"/>
              </a:rPr>
              <a:t>2</a:t>
            </a:r>
            <a:r>
              <a:rPr lang="en-US" sz="2800" b="0" i="0" u="none" strike="noStrike" baseline="0">
                <a:solidFill>
                  <a:srgbClr val="525252"/>
                </a:solidFill>
                <a:latin typeface="IBM Plex Sans SemiBold"/>
              </a:rPr>
              <a:t> of 6)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81C0290-F667-9D8A-BBD8-765438877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6530"/>
            <a:ext cx="12192000" cy="380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D9B40-9D3E-7A4B-B2C4-1800BB39BAC1}"/>
              </a:ext>
            </a:extLst>
          </p:cNvPr>
          <p:cNvSpPr txBox="1"/>
          <p:nvPr/>
        </p:nvSpPr>
        <p:spPr>
          <a:xfrm>
            <a:off x="371708" y="269488"/>
            <a:ext cx="779656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0" i="0" u="none" strike="noStrike" baseline="0">
                <a:solidFill>
                  <a:srgbClr val="525252"/>
                </a:solidFill>
                <a:latin typeface="IBM Plex Sans SemiBold"/>
              </a:rPr>
              <a:t>EDA with visualization results slides (</a:t>
            </a:r>
            <a:r>
              <a:rPr lang="en-US" sz="2800">
                <a:solidFill>
                  <a:srgbClr val="525252"/>
                </a:solidFill>
                <a:latin typeface="IBM Plex Sans SemiBold"/>
              </a:rPr>
              <a:t>3 of</a:t>
            </a:r>
            <a:r>
              <a:rPr lang="en-US" sz="2800" b="0" i="0" u="none" strike="noStrike" baseline="0">
                <a:solidFill>
                  <a:srgbClr val="525252"/>
                </a:solidFill>
                <a:latin typeface="IBM Plex Sans SemiBold"/>
              </a:rPr>
              <a:t> 6)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83D66AAD-35A1-372C-3035-232E67145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4234"/>
            <a:ext cx="12192000" cy="583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5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98F63-8B16-6F61-E35E-EC7A0BF6F163}"/>
              </a:ext>
            </a:extLst>
          </p:cNvPr>
          <p:cNvSpPr txBox="1"/>
          <p:nvPr/>
        </p:nvSpPr>
        <p:spPr>
          <a:xfrm>
            <a:off x="427464" y="241610"/>
            <a:ext cx="762929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0" i="0" u="none" strike="noStrike" baseline="0">
                <a:solidFill>
                  <a:srgbClr val="525252"/>
                </a:solidFill>
                <a:latin typeface="IBM Plex Sans SemiBold"/>
              </a:rPr>
              <a:t>EDA with visualization results slides (</a:t>
            </a:r>
            <a:r>
              <a:rPr lang="en-US" sz="2800">
                <a:solidFill>
                  <a:srgbClr val="525252"/>
                </a:solidFill>
                <a:latin typeface="IBM Plex Sans SemiBold"/>
              </a:rPr>
              <a:t>4</a:t>
            </a:r>
            <a:r>
              <a:rPr lang="en-US" sz="2800" b="0" i="0" u="none" strike="noStrike" baseline="0">
                <a:solidFill>
                  <a:srgbClr val="525252"/>
                </a:solidFill>
                <a:latin typeface="IBM Plex Sans SemiBold"/>
              </a:rPr>
              <a:t> of 6)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F25E62D-40E6-4EED-2A18-3BCBF87D7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1480"/>
            <a:ext cx="12192000" cy="375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305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6BBBE-B1CC-0FA6-9E4C-0CCAA8A1FD87}"/>
              </a:ext>
            </a:extLst>
          </p:cNvPr>
          <p:cNvSpPr txBox="1"/>
          <p:nvPr/>
        </p:nvSpPr>
        <p:spPr>
          <a:xfrm>
            <a:off x="325244" y="288073"/>
            <a:ext cx="7666463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0" i="0" u="none" strike="noStrike" baseline="0">
                <a:solidFill>
                  <a:srgbClr val="525252"/>
                </a:solidFill>
                <a:latin typeface="IBM Plex Sans SemiBold"/>
              </a:rPr>
              <a:t>EDA with visualization results slides (</a:t>
            </a:r>
            <a:r>
              <a:rPr lang="en-US" sz="2800">
                <a:solidFill>
                  <a:srgbClr val="525252"/>
                </a:solidFill>
                <a:latin typeface="IBM Plex Sans SemiBold"/>
              </a:rPr>
              <a:t>5</a:t>
            </a:r>
            <a:r>
              <a:rPr lang="en-US" sz="2800" b="0" i="0" u="none" strike="noStrike" baseline="0">
                <a:solidFill>
                  <a:srgbClr val="525252"/>
                </a:solidFill>
                <a:latin typeface="IBM Plex Sans SemiBold"/>
              </a:rPr>
              <a:t> of 6)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7B319D-5595-2946-A412-917A8584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230"/>
            <a:ext cx="12192000" cy="374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78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38893-11F4-951A-94B3-43DA7B3D7D2A}"/>
              </a:ext>
            </a:extLst>
          </p:cNvPr>
          <p:cNvSpPr txBox="1"/>
          <p:nvPr/>
        </p:nvSpPr>
        <p:spPr>
          <a:xfrm>
            <a:off x="529684" y="278780"/>
            <a:ext cx="797312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0" i="0" u="none" strike="noStrike" baseline="0">
                <a:solidFill>
                  <a:srgbClr val="525252"/>
                </a:solidFill>
                <a:latin typeface="IBM Plex Sans SemiBold"/>
              </a:rPr>
              <a:t>EDA with visualization results slides (</a:t>
            </a:r>
            <a:r>
              <a:rPr lang="en-US" sz="2800">
                <a:solidFill>
                  <a:srgbClr val="525252"/>
                </a:solidFill>
                <a:latin typeface="IBM Plex Sans SemiBold"/>
              </a:rPr>
              <a:t>6</a:t>
            </a:r>
            <a:r>
              <a:rPr lang="en-US" sz="2800" b="0" i="0" u="none" strike="noStrike" baseline="0">
                <a:solidFill>
                  <a:srgbClr val="525252"/>
                </a:solidFill>
                <a:latin typeface="IBM Plex Sans SemiBold"/>
              </a:rPr>
              <a:t> of 6)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92A26B59-4D4D-2E38-8CB7-79BAC130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461"/>
            <a:ext cx="12192000" cy="568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87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009612"/>
          </a:xfrm>
        </p:spPr>
        <p:txBody>
          <a:bodyPr>
            <a:normAutofit/>
          </a:bodyPr>
          <a:lstStyle/>
          <a:p>
            <a:r>
              <a:rPr lang="en-US" sz="2400" b="0">
                <a:latin typeface="IBM Plex Sans SemiBold"/>
              </a:rPr>
              <a:t>EDA with SQL results  (1 of 5)</a:t>
            </a:r>
            <a:endParaRPr lang="en-US" sz="2400">
              <a:latin typeface="IBM Plex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0279" y="1528259"/>
            <a:ext cx="10777910" cy="650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>
                <a:highlight>
                  <a:srgbClr val="FFFFFF"/>
                </a:highlight>
                <a:latin typeface="IBM Plex Sans"/>
              </a:rPr>
              <a:t>The dataset includes a record for each payload carried during a SpaceX mission into outer space.</a:t>
            </a:r>
          </a:p>
          <a:p>
            <a:pPr marL="0" indent="0">
              <a:buNone/>
            </a:pPr>
            <a:r>
              <a:rPr lang="en-US" sz="1400">
                <a:highlight>
                  <a:srgbClr val="FFFFFF"/>
                </a:highlight>
                <a:latin typeface="IBM Plex Sans"/>
              </a:rPr>
              <a:t>The following SQL queries lead to a table showing types of landing outcomes with number of each</a:t>
            </a:r>
            <a:endParaRPr lang="en-US" sz="1400">
              <a:highlight>
                <a:srgbClr val="FFFFFF"/>
              </a:highlight>
            </a:endParaRP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72D361-9D83-4135-6101-35310DD7E3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89360" y="2392479"/>
            <a:ext cx="11465285" cy="36800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F8DF-55BC-453D-7FA2-6605280551A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230188"/>
            <a:ext cx="10964863" cy="454025"/>
          </a:xfrm>
        </p:spPr>
        <p:txBody>
          <a:bodyPr/>
          <a:lstStyle/>
          <a:p>
            <a:r>
              <a:rPr lang="en-US" sz="2400" b="0">
                <a:latin typeface="IBM Plex Sans SemiBold"/>
              </a:rPr>
              <a:t>   EDA with SQL results (2 of 5)</a:t>
            </a:r>
            <a:endParaRPr lang="en-US">
              <a:latin typeface="IBM Plex Sans SemiBold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426867-A7D0-5D24-C1EC-4F7A8DDB7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3722"/>
            <a:ext cx="12192000" cy="491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1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693A91-248B-0113-1601-E0ECF490E66E}"/>
              </a:ext>
            </a:extLst>
          </p:cNvPr>
          <p:cNvSpPr txBox="1"/>
          <p:nvPr/>
        </p:nvSpPr>
        <p:spPr>
          <a:xfrm>
            <a:off x="985024" y="315951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EDA with SQL results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 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(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3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 of 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5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640648-464D-85F2-6B7A-8846BF40A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588"/>
            <a:ext cx="12192000" cy="594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52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C7D532-4EF1-764F-E105-0D438C5690B3}"/>
              </a:ext>
            </a:extLst>
          </p:cNvPr>
          <p:cNvSpPr txBox="1"/>
          <p:nvPr/>
        </p:nvSpPr>
        <p:spPr>
          <a:xfrm>
            <a:off x="520390" y="204439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EDA with SQL results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 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(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4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 of 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5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D0C1D5-2B4C-BAA6-08D2-1286C5C05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741"/>
            <a:ext cx="12192000" cy="558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47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B780B-4190-0E50-74FE-E8F8D9E3CB6D}"/>
              </a:ext>
            </a:extLst>
          </p:cNvPr>
          <p:cNvSpPr txBox="1"/>
          <p:nvPr/>
        </p:nvSpPr>
        <p:spPr>
          <a:xfrm>
            <a:off x="436756" y="167268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EDA with SQL results 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 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(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5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 of 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5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)</a:t>
            </a:r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334391-4A6E-1DBE-C5D5-6BDA3633C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6644"/>
            <a:ext cx="12192000" cy="615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50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83" y="179271"/>
            <a:ext cx="12177662" cy="628612"/>
          </a:xfrm>
        </p:spPr>
        <p:txBody>
          <a:bodyPr>
            <a:normAutofit/>
          </a:bodyPr>
          <a:lstStyle/>
          <a:p>
            <a:r>
              <a:rPr lang="en-US" sz="2400" b="0">
                <a:latin typeface="IBM Plex Sans SemiBold"/>
              </a:rPr>
              <a:t>Interactive map results using Folium (1 of 4)</a:t>
            </a:r>
            <a:endParaRPr lang="en-US" sz="2400">
              <a:latin typeface="IBM Plex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2718" y="1537552"/>
            <a:ext cx="10720039" cy="12847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>
                <a:latin typeface="IBM Plex Sans"/>
              </a:rPr>
              <a:t>Using Folium:</a:t>
            </a:r>
            <a:endParaRPr lang="en-US" sz="1400"/>
          </a:p>
          <a:p>
            <a:r>
              <a:rPr lang="en-US" sz="1400">
                <a:highlight>
                  <a:srgbClr val="FFFFFF"/>
                </a:highlight>
                <a:latin typeface="IBM Plex Sans"/>
              </a:rPr>
              <a:t>Mark all launch sites on a map</a:t>
            </a:r>
            <a:endParaRPr lang="en-US" sz="1400"/>
          </a:p>
          <a:p>
            <a:r>
              <a:rPr lang="en-US" sz="1400">
                <a:highlight>
                  <a:srgbClr val="FFFFFF"/>
                </a:highlight>
                <a:latin typeface="IBM Plex Sans"/>
              </a:rPr>
              <a:t>Mark the success/failed launches for each site on the map</a:t>
            </a:r>
            <a:endParaRPr lang="en-US" sz="1400"/>
          </a:p>
          <a:p>
            <a:r>
              <a:rPr lang="en-US" sz="1400">
                <a:highlight>
                  <a:srgbClr val="FFFFFF"/>
                </a:highlight>
                <a:latin typeface="IBM Plex Sans"/>
              </a:rPr>
              <a:t>Calculate the distances between a launch site to its proximities</a:t>
            </a:r>
            <a:endParaRPr lang="en-US" sz="140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912868"/>
            <a:ext cx="5181600" cy="3833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>
              <a:highlight>
                <a:srgbClr val="FFFFFF"/>
              </a:highlight>
              <a:latin typeface="IBM Plex 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31F227-FC6E-9EA5-7AA8-B3CCE7B5E2E8}"/>
              </a:ext>
            </a:extLst>
          </p:cNvPr>
          <p:cNvSpPr txBox="1"/>
          <p:nvPr/>
        </p:nvSpPr>
        <p:spPr>
          <a:xfrm>
            <a:off x="278781" y="167268"/>
            <a:ext cx="792665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Interactive map results using Folium (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2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 of 4)</a:t>
            </a:r>
            <a:endParaRPr lang="en-US"/>
          </a:p>
          <a:p>
            <a:endParaRPr lang="en-US" sz="1600">
              <a:highlight>
                <a:srgbClr val="FFFFFF"/>
              </a:highlight>
            </a:endParaRPr>
          </a:p>
          <a:p>
            <a:r>
              <a:rPr lang="en-US" sz="1600">
                <a:highlight>
                  <a:srgbClr val="FFFFFF"/>
                </a:highlight>
              </a:rPr>
              <a:t>Mark all launch sites on a map</a:t>
            </a:r>
            <a:endParaRPr lang="en-US" sz="160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03623DE-AE89-AA74-06D6-60E987AC5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242"/>
            <a:ext cx="12192000" cy="622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38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AA4597-1165-B558-BE54-E1410BE69C67}"/>
              </a:ext>
            </a:extLst>
          </p:cNvPr>
          <p:cNvSpPr txBox="1"/>
          <p:nvPr/>
        </p:nvSpPr>
        <p:spPr>
          <a:xfrm>
            <a:off x="278781" y="157976"/>
            <a:ext cx="799170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  <a:ea typeface="Segoe UI"/>
                <a:cs typeface="Segoe UI"/>
              </a:rPr>
              <a:t>Interactive map results using Folium (</a:t>
            </a:r>
            <a:r>
              <a:rPr lang="en-US" sz="2400">
                <a:solidFill>
                  <a:srgbClr val="525252"/>
                </a:solidFill>
                <a:latin typeface="IBM Plex Sans SemiBold"/>
                <a:ea typeface="Segoe UI"/>
                <a:cs typeface="Segoe UI"/>
              </a:rPr>
              <a:t>3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  <a:ea typeface="Segoe UI"/>
                <a:cs typeface="Segoe UI"/>
              </a:rPr>
              <a:t> of 4)</a:t>
            </a:r>
            <a:r>
              <a:rPr lang="en-US" sz="2400" b="0" i="0">
                <a:solidFill>
                  <a:srgbClr val="262626"/>
                </a:solidFill>
                <a:latin typeface="IBM Plex Sans SemiBold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0" i="0">
                <a:solidFill>
                  <a:srgbClr val="262626"/>
                </a:solidFill>
                <a:latin typeface="IBM Plex Sans"/>
                <a:ea typeface="Segoe UI"/>
                <a:cs typeface="Segoe UI"/>
              </a:rPr>
              <a:t>​</a:t>
            </a:r>
          </a:p>
          <a:p>
            <a:r>
              <a:rPr lang="en-US" sz="1600" b="0" i="0" u="none" strike="noStrike" baseline="0">
                <a:solidFill>
                  <a:srgbClr val="262626"/>
                </a:solidFill>
                <a:highlight>
                  <a:srgbClr val="FFFFFF"/>
                </a:highlight>
                <a:latin typeface="IBM Plex Sans"/>
                <a:ea typeface="Segoe UI"/>
                <a:cs typeface="Segoe UI"/>
              </a:rPr>
              <a:t>Mark</a:t>
            </a:r>
            <a:r>
              <a:rPr lang="en-US" sz="1400">
                <a:solidFill>
                  <a:srgbClr val="262626"/>
                </a:solidFill>
                <a:highlight>
                  <a:srgbClr val="FFFFFF"/>
                </a:highlight>
                <a:latin typeface="IBM Plex Sans"/>
                <a:ea typeface="Segoe UI"/>
                <a:cs typeface="Segoe UI"/>
              </a:rPr>
              <a:t> the success/failed launches for each site on the map</a:t>
            </a:r>
            <a:endParaRPr lang="en-US" sz="1400" b="0" i="0" u="none" strike="noStrike" baseline="0">
              <a:solidFill>
                <a:srgbClr val="262626"/>
              </a:solidFill>
              <a:highlight>
                <a:srgbClr val="FFFFFF"/>
              </a:highlight>
              <a:latin typeface="IBM Plex Sans"/>
              <a:ea typeface="Segoe UI"/>
              <a:cs typeface="Segoe UI"/>
            </a:endParaRPr>
          </a:p>
        </p:txBody>
      </p:sp>
      <p:pic>
        <p:nvPicPr>
          <p:cNvPr id="3" name="Picture 2" descr="A map with red and green dots and white arrows&#10;&#10;AI-generated content may be incorrect.">
            <a:extLst>
              <a:ext uri="{FF2B5EF4-FFF2-40B4-BE49-F238E27FC236}">
                <a16:creationId xmlns:a16="http://schemas.microsoft.com/office/drawing/2014/main" id="{97D9A3EA-4A00-ABD7-DFB4-7C9B8F82B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62" y="1337914"/>
            <a:ext cx="4200525" cy="2305050"/>
          </a:xfrm>
          <a:prstGeom prst="rect">
            <a:avLst/>
          </a:prstGeom>
        </p:spPr>
      </p:pic>
      <p:pic>
        <p:nvPicPr>
          <p:cNvPr id="4" name="Picture 3" descr="A screenshot of a map&#10;&#10;AI-generated content may be incorrect.">
            <a:extLst>
              <a:ext uri="{FF2B5EF4-FFF2-40B4-BE49-F238E27FC236}">
                <a16:creationId xmlns:a16="http://schemas.microsoft.com/office/drawing/2014/main" id="{55DC32E1-9BB6-19EE-4E3A-4228C099F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070" y="1337915"/>
            <a:ext cx="5508006" cy="2444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766FF8-3A25-A7A7-6FDD-D1D0C5B16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267" y="3872958"/>
            <a:ext cx="3072394" cy="2448158"/>
          </a:xfrm>
          <a:prstGeom prst="rect">
            <a:avLst/>
          </a:prstGeom>
        </p:spPr>
      </p:pic>
      <p:pic>
        <p:nvPicPr>
          <p:cNvPr id="6" name="Picture 5" descr="A map of a city&#10;&#10;AI-generated content may be incorrect.">
            <a:extLst>
              <a:ext uri="{FF2B5EF4-FFF2-40B4-BE49-F238E27FC236}">
                <a16:creationId xmlns:a16="http://schemas.microsoft.com/office/drawing/2014/main" id="{EAE56E9C-9936-2C57-D7E4-D2E4157B2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74" y="3755172"/>
            <a:ext cx="3270096" cy="256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51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1FE438-6774-D224-1F02-623B766302F0}"/>
              </a:ext>
            </a:extLst>
          </p:cNvPr>
          <p:cNvSpPr txBox="1"/>
          <p:nvPr/>
        </p:nvSpPr>
        <p:spPr>
          <a:xfrm>
            <a:off x="399585" y="269488"/>
            <a:ext cx="11216268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  <a:ea typeface="Segoe UI"/>
                <a:cs typeface="Segoe UI"/>
              </a:rPr>
              <a:t>Interactive map results using Folium (</a:t>
            </a:r>
            <a:r>
              <a:rPr lang="en-US" sz="2400">
                <a:solidFill>
                  <a:srgbClr val="525252"/>
                </a:solidFill>
                <a:latin typeface="IBM Plex Sans SemiBold"/>
                <a:ea typeface="Segoe UI"/>
                <a:cs typeface="Segoe UI"/>
              </a:rPr>
              <a:t>4 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  <a:ea typeface="Segoe UI"/>
                <a:cs typeface="Segoe UI"/>
              </a:rPr>
              <a:t>of 4)</a:t>
            </a:r>
            <a:r>
              <a:rPr lang="en-US" sz="2400" b="0" i="0" u="none" strike="noStrike" baseline="0">
                <a:solidFill>
                  <a:srgbClr val="262626"/>
                </a:solidFill>
                <a:latin typeface="IBM Plex Sans SemiBold"/>
                <a:ea typeface="Segoe UI"/>
                <a:cs typeface="Segoe UI"/>
              </a:rPr>
              <a:t>​</a:t>
            </a:r>
            <a:r>
              <a:rPr lang="en-US" sz="2400" b="0" i="0">
                <a:solidFill>
                  <a:srgbClr val="262626"/>
                </a:solidFill>
                <a:latin typeface="IBM Plex Sans SemiBold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0" i="0" u="none" strike="noStrike" baseline="0">
                <a:solidFill>
                  <a:srgbClr val="262626"/>
                </a:solidFill>
                <a:latin typeface="IBM Plex Sans"/>
                <a:ea typeface="Segoe UI"/>
                <a:cs typeface="Segoe UI"/>
              </a:rPr>
              <a:t>​</a:t>
            </a:r>
            <a:r>
              <a:rPr lang="en-US" sz="1600" b="0" i="0">
                <a:solidFill>
                  <a:srgbClr val="262626"/>
                </a:solidFill>
                <a:latin typeface="IBM Plex Sans"/>
                <a:ea typeface="Segoe UI"/>
                <a:cs typeface="Segoe UI"/>
              </a:rPr>
              <a:t>​</a:t>
            </a:r>
          </a:p>
          <a:p>
            <a:r>
              <a:rPr lang="en-US" sz="1400">
                <a:solidFill>
                  <a:srgbClr val="262626"/>
                </a:solidFill>
                <a:highlight>
                  <a:srgbClr val="FFFFFF"/>
                </a:highlight>
                <a:latin typeface="IBM Plex Sans"/>
                <a:cs typeface="Segoe UI"/>
              </a:rPr>
              <a:t>Calculate the distances between a launch site to its proximities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84D45-2835-56FF-4BAA-A49BBBFE3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1724025"/>
            <a:ext cx="1213485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82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883" y="262905"/>
            <a:ext cx="10515600" cy="572856"/>
          </a:xfrm>
        </p:spPr>
        <p:txBody>
          <a:bodyPr anchor="ctr">
            <a:normAutofit fontScale="90000"/>
          </a:bodyPr>
          <a:lstStyle/>
          <a:p>
            <a:r>
              <a:rPr lang="en-US" sz="2400" b="0">
                <a:latin typeface="IBM Plex Sans SemiBold"/>
              </a:rPr>
              <a:t>Plotly Dash dashboard results (1 of 6)</a:t>
            </a:r>
            <a:br>
              <a:rPr lang="en-US" sz="2400" b="0" dirty="0">
                <a:latin typeface="IBM Plex Sans SemiBold"/>
              </a:rPr>
            </a:br>
            <a:endParaRPr lang="en-US" sz="1300" b="0">
              <a:solidFill>
                <a:srgbClr val="1F2937"/>
              </a:solidFill>
              <a:highlight>
                <a:srgbClr val="FFFFFF"/>
              </a:highlight>
            </a:endParaRPr>
          </a:p>
          <a:p>
            <a:endParaRPr lang="en-US" sz="1300" b="0" dirty="0">
              <a:solidFill>
                <a:srgbClr val="1F2937"/>
              </a:solidFill>
              <a:highlight>
                <a:srgbClr val="FFFFFF"/>
              </a:highlight>
              <a:latin typeface="IBM Plex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75782" y="2138600"/>
            <a:ext cx="7068725" cy="166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sz="1600">
                <a:solidFill>
                  <a:srgbClr val="1F2937"/>
                </a:solidFill>
                <a:highlight>
                  <a:srgbClr val="FFFFFF"/>
                </a:highlight>
                <a:latin typeface="IBM Plex Sans SemiBold"/>
              </a:rPr>
              <a:t>Dash application for users to perform interactive visual analytics on SpaceX launch data in real-time to answer the following questions:</a:t>
            </a:r>
            <a:br>
              <a:rPr lang="en-US" sz="1600" dirty="0">
                <a:highlight>
                  <a:srgbClr val="FFFFFF"/>
                </a:highlight>
                <a:latin typeface="IBM Plex Sans SemiBold"/>
              </a:rPr>
            </a:br>
            <a:r>
              <a:rPr lang="en-US" sz="1600">
                <a:solidFill>
                  <a:srgbClr val="1F2937"/>
                </a:solidFill>
                <a:highlight>
                  <a:srgbClr val="FFFFFF"/>
                </a:highlight>
                <a:latin typeface="IBM Plex Sans SemiBold"/>
              </a:rPr>
              <a:t>Which site has the largest successful launches?</a:t>
            </a:r>
            <a:endParaRPr lang="en-US" sz="1600">
              <a:latin typeface="IBM Plex Sans SemiBold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600">
                <a:solidFill>
                  <a:srgbClr val="1F2937"/>
                </a:solidFill>
                <a:highlight>
                  <a:srgbClr val="FFFFFF"/>
                </a:highlight>
                <a:latin typeface="IBM Plex Sans SemiBold"/>
              </a:rPr>
              <a:t>Which site has the highest launch success rate?</a:t>
            </a:r>
            <a:endParaRPr lang="en-US" sz="1600">
              <a:latin typeface="IBM Plex Sans SemiBold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600">
                <a:solidFill>
                  <a:srgbClr val="1F2937"/>
                </a:solidFill>
                <a:highlight>
                  <a:srgbClr val="FFFFFF"/>
                </a:highlight>
                <a:latin typeface="IBM Plex Sans SemiBold"/>
              </a:rPr>
              <a:t>Which payload range(s) has the highest launch success rate?</a:t>
            </a:r>
            <a:endParaRPr lang="en-US" sz="1600">
              <a:latin typeface="IBM Plex Sans SemiBold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1600">
                <a:solidFill>
                  <a:srgbClr val="1F2937"/>
                </a:solidFill>
                <a:highlight>
                  <a:srgbClr val="FFFFFF"/>
                </a:highlight>
                <a:latin typeface="IBM Plex Sans SemiBold"/>
              </a:rPr>
              <a:t>Which payload range(s) has the lowest launch success rate?</a:t>
            </a:r>
            <a:endParaRPr lang="en-US"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  <p:pic>
        <p:nvPicPr>
          <p:cNvPr id="5" name="Picture 4" descr="A group of people standing in a hangar&#10;&#10;AI-generated content may be incorrect.">
            <a:extLst>
              <a:ext uri="{FF2B5EF4-FFF2-40B4-BE49-F238E27FC236}">
                <a16:creationId xmlns:a16="http://schemas.microsoft.com/office/drawing/2014/main" id="{D712789C-4428-9E6C-4B3F-5CF523CA3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92" y="1570463"/>
            <a:ext cx="3503343" cy="31595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95413F-D374-49B1-B07E-2E0D523E4865}"/>
              </a:ext>
            </a:extLst>
          </p:cNvPr>
          <p:cNvSpPr txBox="1"/>
          <p:nvPr/>
        </p:nvSpPr>
        <p:spPr>
          <a:xfrm>
            <a:off x="408878" y="176561"/>
            <a:ext cx="84935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Plotly Dash dashboard results slides (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2 of 6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6" name="Picture 5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0A6BBE55-79B0-6872-655A-20EC2C140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463" y="909647"/>
            <a:ext cx="7025269" cy="2520389"/>
          </a:xfrm>
          <a:prstGeom prst="rect">
            <a:avLst/>
          </a:prstGeom>
        </p:spPr>
      </p:pic>
      <p:pic>
        <p:nvPicPr>
          <p:cNvPr id="7" name="Picture 6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B5658C62-D522-4A68-E01C-642B5D5EA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2951"/>
            <a:ext cx="12192000" cy="285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08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8E3A4-4A20-11B3-ED58-235C7E80E11E}"/>
              </a:ext>
            </a:extLst>
          </p:cNvPr>
          <p:cNvSpPr txBox="1"/>
          <p:nvPr/>
        </p:nvSpPr>
        <p:spPr>
          <a:xfrm>
            <a:off x="315951" y="195146"/>
            <a:ext cx="772221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Plotly Dash dashboard results slides (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3 of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 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6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 descr="A pie chart with a number of percentages&#10;&#10;AI-generated content may be incorrect.">
            <a:extLst>
              <a:ext uri="{FF2B5EF4-FFF2-40B4-BE49-F238E27FC236}">
                <a16:creationId xmlns:a16="http://schemas.microsoft.com/office/drawing/2014/main" id="{C8DDB933-5E46-DDD9-2417-2ED3C06FC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483"/>
            <a:ext cx="6960220" cy="2426352"/>
          </a:xfrm>
          <a:prstGeom prst="rect">
            <a:avLst/>
          </a:prstGeom>
        </p:spPr>
      </p:pic>
      <p:pic>
        <p:nvPicPr>
          <p:cNvPr id="4" name="Picture 3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2EC2CE70-7CE5-BFA4-35D0-BB78A15AB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96941"/>
            <a:ext cx="8307659" cy="293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49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FD5E40-FEFD-27B9-FF14-B7D0B2A62C5C}"/>
              </a:ext>
            </a:extLst>
          </p:cNvPr>
          <p:cNvSpPr txBox="1"/>
          <p:nvPr/>
        </p:nvSpPr>
        <p:spPr>
          <a:xfrm>
            <a:off x="241610" y="195146"/>
            <a:ext cx="811251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Plotly Dash dashboard results slides (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4 of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 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6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)</a:t>
            </a:r>
            <a:endParaRPr lang="en-US" dirty="0">
              <a:solidFill>
                <a:srgbClr val="262626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1F2937"/>
                </a:solidFill>
                <a:highlight>
                  <a:srgbClr val="FFFFFF"/>
                </a:highlight>
                <a:ea typeface="+mn-lt"/>
                <a:cs typeface="+mn-lt"/>
              </a:rPr>
              <a:t>Dash application for users to perform interactive visual analytics on SpaceX launch data in real-time</a:t>
            </a:r>
            <a:endParaRPr lang="en-US" sz="1400"/>
          </a:p>
        </p:txBody>
      </p:sp>
      <p:pic>
        <p:nvPicPr>
          <p:cNvPr id="3" name="Picture 2" descr="A pie chart with numbers and a red circle&#10;&#10;AI-generated content may be incorrect.">
            <a:extLst>
              <a:ext uri="{FF2B5EF4-FFF2-40B4-BE49-F238E27FC236}">
                <a16:creationId xmlns:a16="http://schemas.microsoft.com/office/drawing/2014/main" id="{B2D1FAEB-4D01-2F05-6477-53B081C2C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839"/>
            <a:ext cx="6811537" cy="2229590"/>
          </a:xfrm>
          <a:prstGeom prst="rect">
            <a:avLst/>
          </a:prstGeom>
        </p:spPr>
      </p:pic>
      <p:pic>
        <p:nvPicPr>
          <p:cNvPr id="4" name="Picture 3" descr="A graph with numbers and red dots&#10;&#10;AI-generated content may be incorrect.">
            <a:extLst>
              <a:ext uri="{FF2B5EF4-FFF2-40B4-BE49-F238E27FC236}">
                <a16:creationId xmlns:a16="http://schemas.microsoft.com/office/drawing/2014/main" id="{21E4E8C2-33C6-96B3-F792-A7E9A831C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51914"/>
            <a:ext cx="9404196" cy="294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43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A19A57-D665-E241-EAC8-BEFB30211A4E}"/>
              </a:ext>
            </a:extLst>
          </p:cNvPr>
          <p:cNvSpPr txBox="1"/>
          <p:nvPr/>
        </p:nvSpPr>
        <p:spPr>
          <a:xfrm>
            <a:off x="260195" y="223024"/>
            <a:ext cx="915329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525252"/>
                </a:solidFill>
                <a:latin typeface="IBM Plex Sans SemiBold"/>
              </a:rPr>
              <a:t>Plotly Dash dashboard results slides (</a:t>
            </a:r>
            <a:r>
              <a:rPr lang="en-US" sz="2400" dirty="0">
                <a:solidFill>
                  <a:srgbClr val="525252"/>
                </a:solidFill>
                <a:latin typeface="IBM Plex Sans SemiBold"/>
              </a:rPr>
              <a:t>5 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of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 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6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5B210-E406-A267-67AC-F75F6015D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480"/>
            <a:ext cx="6560635" cy="2324358"/>
          </a:xfrm>
          <a:prstGeom prst="rect">
            <a:avLst/>
          </a:prstGeom>
        </p:spPr>
      </p:pic>
      <p:pic>
        <p:nvPicPr>
          <p:cNvPr id="4" name="Picture 3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AC5121AB-3A81-EBE0-3468-3565FB12C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7498"/>
            <a:ext cx="8428464" cy="276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505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66A610-0628-4336-69DC-00AC651E866D}"/>
              </a:ext>
            </a:extLst>
          </p:cNvPr>
          <p:cNvSpPr txBox="1"/>
          <p:nvPr/>
        </p:nvSpPr>
        <p:spPr>
          <a:xfrm>
            <a:off x="353122" y="195146"/>
            <a:ext cx="983165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525252"/>
                </a:solidFill>
                <a:latin typeface="IBM Plex Sans SemiBold"/>
              </a:rPr>
              <a:t>Plotly Dash dashboard results slides (</a:t>
            </a:r>
            <a:r>
              <a:rPr lang="en-US" sz="2400" dirty="0">
                <a:solidFill>
                  <a:srgbClr val="525252"/>
                </a:solidFill>
                <a:latin typeface="IBM Plex Sans SemiBold"/>
              </a:rPr>
              <a:t>6 </a:t>
            </a:r>
            <a:r>
              <a:rPr lang="en-US" sz="2400">
                <a:solidFill>
                  <a:srgbClr val="525252"/>
                </a:solidFill>
                <a:latin typeface="IBM Plex Sans SemiBold"/>
              </a:rPr>
              <a:t>of 6</a:t>
            </a:r>
            <a:r>
              <a:rPr lang="en-US" sz="2400" b="0" i="0" u="none" strike="noStrike" baseline="0">
                <a:solidFill>
                  <a:srgbClr val="525252"/>
                </a:solidFill>
                <a:latin typeface="IBM Plex Sans SemiBold"/>
              </a:rPr>
              <a:t>)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D8B0C04A-F1F6-1C1C-5979-4F704FC5B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9529"/>
            <a:ext cx="6718610" cy="2384285"/>
          </a:xfrm>
          <a:prstGeom prst="rect">
            <a:avLst/>
          </a:prstGeom>
        </p:spPr>
      </p:pic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DB5930B-7D0C-5660-7BEF-A7E302AC2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1258"/>
            <a:ext cx="8707244" cy="307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13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2400" b="0">
                <a:latin typeface="IBM Plex Sans SemiBold"/>
              </a:rPr>
              <a:t>Predictive analysis (classification) results 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Screenshot of dashboard tab 1 goes here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11E2B3-8039-0B53-93F4-95A1ED8AB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46" y="1682609"/>
            <a:ext cx="9774579" cy="43512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2400" b="0">
                <a:latin typeface="IBM Plex Sans SemiBold"/>
              </a:rPr>
              <a:t>Conclusion 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IBM Plex Sans"/>
              </a:rPr>
              <a:t>There is correlation between frequency of launches and the success of the launches.</a:t>
            </a:r>
            <a:endParaRPr lang="en-US"/>
          </a:p>
          <a:p>
            <a:pPr marL="0" indent="0">
              <a:buNone/>
            </a:pPr>
            <a:r>
              <a:rPr lang="en-US" dirty="0">
                <a:latin typeface="IBM Plex Sans"/>
              </a:rPr>
              <a:t>The success rate </a:t>
            </a:r>
            <a:r>
              <a:rPr lang="en-US">
                <a:latin typeface="IBM Plex Sans"/>
              </a:rPr>
              <a:t>dramatically improved from zero. </a:t>
            </a:r>
          </a:p>
          <a:p>
            <a:pPr marL="0" indent="0">
              <a:buNone/>
            </a:pPr>
            <a:r>
              <a:rPr lang="en-US" dirty="0">
                <a:latin typeface="IBM Plex Sans"/>
              </a:rPr>
              <a:t>The predictive models all performed nearly the same.</a:t>
            </a:r>
            <a:endParaRPr lang="en-US" dirty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873" y="155499"/>
            <a:ext cx="10964254" cy="69633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IBM Plex Sans SemiBold"/>
              </a:rPr>
              <a:t>appendix/ </a:t>
            </a:r>
            <a:r>
              <a:rPr lang="en-US" dirty="0" err="1">
                <a:latin typeface="IBM Plex Sans SemiBold"/>
              </a:rPr>
              <a:t>github</a:t>
            </a:r>
            <a:r>
              <a:rPr lang="en-US" dirty="0">
                <a:latin typeface="IBM Plex Sans SemiBold"/>
              </a:rPr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6858" y="1027077"/>
            <a:ext cx="15073478" cy="43599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400" dirty="0" err="1">
                <a:solidFill>
                  <a:srgbClr val="262626"/>
                </a:solidFill>
                <a:latin typeface="IBM Plex Sans"/>
              </a:rPr>
              <a:t>Github</a:t>
            </a:r>
            <a:r>
              <a:rPr lang="en-US" sz="1400" dirty="0">
                <a:solidFill>
                  <a:srgbClr val="262626"/>
                </a:solidFill>
                <a:latin typeface="IBM Plex Sans"/>
              </a:rPr>
              <a:t> Link Coursera Data Science Capstone:</a:t>
            </a:r>
          </a:p>
          <a:p>
            <a:pPr algn="l"/>
            <a:r>
              <a:rPr lang="en-US" sz="1400" dirty="0">
                <a:solidFill>
                  <a:srgbClr val="262626"/>
                </a:solidFill>
                <a:latin typeface="IBM Plex Sans"/>
                <a:hlinkClick r:id="rId3"/>
              </a:rPr>
              <a:t>https://github.com/bjbci/data_science_capstone/tree/main</a:t>
            </a:r>
            <a:endParaRPr lang="en-US" dirty="0">
              <a:latin typeface="IBM Plex Sans"/>
            </a:endParaRPr>
          </a:p>
          <a:p>
            <a:pPr algn="l"/>
            <a:endParaRPr lang="en-US" sz="2800">
              <a:solidFill>
                <a:srgbClr val="262626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010400" y="1714500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IBM DEVELOPER 2018 WHITE BACKGROUND" val="AcyDFp8V"/>
  <p:tag name="ARTICULATE_DESIGN_ID_SLIDE_TEMPLATE_SKILL_NETWORK" val="762xjmeN"/>
  <p:tag name="ARTICULATE_PROJECT_OPEN" val="0"/>
  <p:tag name="ARTICULATE_SLIDE_COUNT" val="18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f80a141d-92ca-4d3d-9308-f7e7b1d44ce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Application>Microsoft Office PowerPoint</Application>
  <PresentationFormat>Widescreen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SLIDE_TEMPLATE_skill_network</vt:lpstr>
      <vt:lpstr>SpaceX Falcon 9 first stage Landing Prediction </vt:lpstr>
      <vt:lpstr>PowerPoint Presentation</vt:lpstr>
      <vt:lpstr>EXECUTIVE SUMMARY</vt:lpstr>
      <vt:lpstr>INTRODUCTION</vt:lpstr>
      <vt:lpstr>Data collection and data wrangling methodology </vt:lpstr>
      <vt:lpstr>EDA and interactive visual analytics methodology </vt:lpstr>
      <vt:lpstr>Predictive analysis methodology</vt:lpstr>
      <vt:lpstr>EDA with visualization results  (1 of 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EDA with SQL results  (1 of 5)</vt:lpstr>
      <vt:lpstr>   EDA with SQL results (2 of 5)</vt:lpstr>
      <vt:lpstr>PowerPoint Presentation</vt:lpstr>
      <vt:lpstr>PowerPoint Presentation</vt:lpstr>
      <vt:lpstr>PowerPoint Presentation</vt:lpstr>
      <vt:lpstr>Interactive map results using Folium (1 of 4)</vt:lpstr>
      <vt:lpstr>PowerPoint Presentation</vt:lpstr>
      <vt:lpstr>PowerPoint Presentation</vt:lpstr>
      <vt:lpstr>PowerPoint Presentation</vt:lpstr>
      <vt:lpstr>Plotly Dash dashboard results (1 of 6)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Predictive analysis (classification) results </vt:lpstr>
      <vt:lpstr>Conclusion </vt:lpstr>
      <vt:lpstr>appendix/ 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revision>218</cp:revision>
  <dcterms:created xsi:type="dcterms:W3CDTF">2024-10-30T05:40:03Z</dcterms:created>
  <dcterms:modified xsi:type="dcterms:W3CDTF">2026-05-22T00:46:32Z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